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0" r:id="rId4"/>
    <p:sldId id="266" r:id="rId5"/>
    <p:sldId id="261" r:id="rId6"/>
    <p:sldId id="267" r:id="rId7"/>
    <p:sldId id="270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94602"/>
  </p:normalViewPr>
  <p:slideViewPr>
    <p:cSldViewPr snapToGrid="0" snapToObjects="1" showGuides="1">
      <p:cViewPr varScale="1">
        <p:scale>
          <a:sx n="75" d="100"/>
          <a:sy n="75" d="100"/>
        </p:scale>
        <p:origin x="73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05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50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66" r:id="rId10"/>
    <p:sldLayoutId id="2147483660" r:id="rId11"/>
    <p:sldLayoutId id="214748366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596" y="173830"/>
            <a:ext cx="7160714" cy="5323840"/>
          </a:xfrm>
        </p:spPr>
        <p:txBody>
          <a:bodyPr/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and Distraction Detection System using computer vision 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CE931-39E1-850E-41A2-9B323EFA2783}"/>
              </a:ext>
            </a:extLst>
          </p:cNvPr>
          <p:cNvSpPr/>
          <p:nvPr/>
        </p:nvSpPr>
        <p:spPr>
          <a:xfrm>
            <a:off x="7355840" y="619760"/>
            <a:ext cx="4836160" cy="6238240"/>
          </a:xfrm>
          <a:prstGeom prst="rect">
            <a:avLst/>
          </a:prstGeom>
          <a:solidFill>
            <a:schemeClr val="accent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Knowledge Institute of Technology – Salem Tamilnadu">
            <a:extLst>
              <a:ext uri="{FF2B5EF4-FFF2-40B4-BE49-F238E27FC236}">
                <a16:creationId xmlns:a16="http://schemas.microsoft.com/office/drawing/2014/main" id="{738880D4-E34B-E552-59E7-F03949CC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80" y="1590390"/>
            <a:ext cx="3479958" cy="347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1A4ABE-3FDA-6EFC-91AC-72D2BF3BD196}"/>
              </a:ext>
            </a:extLst>
          </p:cNvPr>
          <p:cNvSpPr/>
          <p:nvPr/>
        </p:nvSpPr>
        <p:spPr>
          <a:xfrm>
            <a:off x="0" y="5924991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EFFE0B3-6566-3F48-9291-A6A8E30E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961831"/>
            <a:ext cx="11350752" cy="978729"/>
          </a:xfrm>
        </p:spPr>
        <p:txBody>
          <a:bodyPr/>
          <a:lstStyle/>
          <a:p>
            <a:r>
              <a:rPr lang="en-IN" sz="3200" dirty="0"/>
              <a:t>Driver Drowsiness and Distraction Detection System Using Computer Vision</a:t>
            </a:r>
            <a:endParaRPr lang="en-US" sz="3200" dirty="0"/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4603F0F3-CF76-774D-86D8-DB88B3625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6A913C-1F80-C2E7-2C11-FAC7D7E5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956683"/>
            <a:ext cx="10799411" cy="4501936"/>
          </a:xfrm>
        </p:spPr>
        <p:txBody>
          <a:bodyPr/>
          <a:lstStyle/>
          <a:p>
            <a:pPr algn="just"/>
            <a:r>
              <a:rPr lang="en-IN" sz="2400" b="1" dirty="0"/>
              <a:t>Objective: </a:t>
            </a:r>
            <a:r>
              <a:rPr lang="en-IN" sz="2400" dirty="0"/>
              <a:t>Develop an AI-based Driver Monitoring System to detect </a:t>
            </a:r>
            <a:r>
              <a:rPr lang="en-IN" sz="2400" b="1" dirty="0"/>
              <a:t>driver drowsiness and distraction</a:t>
            </a:r>
            <a:r>
              <a:rPr lang="en-IN" sz="2400" dirty="0"/>
              <a:t> in real time, improving road safety by monitoring the driver's condition continuously.</a:t>
            </a:r>
            <a:endParaRPr lang="en-IN" sz="2400" b="1" dirty="0"/>
          </a:p>
          <a:p>
            <a:pPr algn="just"/>
            <a:r>
              <a:rPr lang="en-IN" sz="2400" b="1" dirty="0"/>
              <a:t>Solution: </a:t>
            </a:r>
            <a:r>
              <a:rPr lang="en-IN" sz="2400" dirty="0"/>
              <a:t>Developed using </a:t>
            </a:r>
            <a:r>
              <a:rPr lang="en-IN" sz="2400" b="1" dirty="0"/>
              <a:t>Python, OpenCV, </a:t>
            </a:r>
            <a:r>
              <a:rPr lang="en-IN" sz="2400" b="1" dirty="0" err="1"/>
              <a:t>MediaPipe</a:t>
            </a:r>
            <a:r>
              <a:rPr lang="en-IN" sz="2400" b="1" dirty="0"/>
              <a:t>, and YOLOv8</a:t>
            </a:r>
            <a:r>
              <a:rPr lang="en-IN" sz="2400" dirty="0"/>
              <a:t> to detect </a:t>
            </a:r>
            <a:r>
              <a:rPr lang="en-IN" sz="2400" b="1" dirty="0"/>
              <a:t>drowsiness, yawning, head movement, and mobile phone usage</a:t>
            </a:r>
            <a:r>
              <a:rPr lang="en-IN" sz="2400" dirty="0"/>
              <a:t>, while providing real-time alerts, event logging, and screenshot capture.</a:t>
            </a:r>
            <a:endParaRPr lang="en-IN" sz="2400" b="1" dirty="0"/>
          </a:p>
          <a:p>
            <a:pPr algn="just"/>
            <a:r>
              <a:rPr lang="en-IN" sz="2400" b="1" dirty="0"/>
              <a:t>Impact: </a:t>
            </a:r>
            <a:r>
              <a:rPr lang="en-IN" sz="2400" dirty="0"/>
              <a:t>Improves road safety by detecting fatigue and distracted driving at an early stage, helping prevent accidents through continuous monitoring and timely warnings.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A6794-0D44-2C2B-8DDD-F20A931F4B30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09FAC87-EA26-5E89-32E8-FD96E222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7" y="1111553"/>
            <a:ext cx="10515600" cy="590931"/>
          </a:xfrm>
        </p:spPr>
        <p:txBody>
          <a:bodyPr/>
          <a:lstStyle/>
          <a:p>
            <a:r>
              <a:rPr lang="en-US" dirty="0"/>
              <a:t>Engineering Design Process</a:t>
            </a:r>
          </a:p>
        </p:txBody>
      </p:sp>
      <p:sp>
        <p:nvSpPr>
          <p:cNvPr id="3" name="Side Text - Column 1">
            <a:extLst>
              <a:ext uri="{FF2B5EF4-FFF2-40B4-BE49-F238E27FC236}">
                <a16:creationId xmlns:a16="http://schemas.microsoft.com/office/drawing/2014/main" id="{38025F87-E395-E545-BB3A-BF62703CC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1691" y="1863950"/>
            <a:ext cx="11528617" cy="4455824"/>
          </a:xfrm>
        </p:spPr>
        <p:txBody>
          <a:bodyPr/>
          <a:lstStyle/>
          <a:p>
            <a:pPr algn="just"/>
            <a:r>
              <a:rPr lang="en-IN" sz="2000" b="1" dirty="0"/>
              <a:t>Requirement &amp; Planning:</a:t>
            </a:r>
            <a:r>
              <a:rPr lang="en-IN" sz="2000" dirty="0"/>
              <a:t> Defined project objectives, identified driver monitoring requirements, and designed the overall AI-based system architecture. </a:t>
            </a:r>
          </a:p>
          <a:p>
            <a:pPr algn="just"/>
            <a:r>
              <a:rPr lang="en-IN" sz="2000" b="1" dirty="0"/>
              <a:t>System Development:</a:t>
            </a:r>
            <a:r>
              <a:rPr lang="en-IN" sz="2000" dirty="0"/>
              <a:t> Developed drowsiness, yawning, head position, and mobile phone detection modules using Python, OpenCV, </a:t>
            </a:r>
            <a:r>
              <a:rPr lang="en-IN" sz="2000" dirty="0" err="1"/>
              <a:t>MediaPipe</a:t>
            </a:r>
            <a:r>
              <a:rPr lang="en-IN" sz="2000" dirty="0"/>
              <a:t>, and YOLOv8. </a:t>
            </a:r>
          </a:p>
          <a:p>
            <a:pPr algn="just"/>
            <a:r>
              <a:rPr lang="en-IN" sz="2000" b="1" dirty="0"/>
              <a:t>System Integration:</a:t>
            </a:r>
            <a:r>
              <a:rPr lang="en-IN" sz="2000" dirty="0"/>
              <a:t> Integrated all detection modules with a real-time monitoring dashboard, event logging, and screenshot capture into a unified driver monitoring system. </a:t>
            </a:r>
          </a:p>
          <a:p>
            <a:pPr algn="just"/>
            <a:r>
              <a:rPr lang="en-IN" sz="2000" b="1" dirty="0"/>
              <a:t>Testing &amp; Validation:</a:t>
            </a:r>
            <a:r>
              <a:rPr lang="en-IN" sz="2000" dirty="0"/>
              <a:t> Evaluated system performance under different driving scenarios to verify detection accuracy and real-time response. </a:t>
            </a:r>
          </a:p>
          <a:p>
            <a:pPr algn="just"/>
            <a:r>
              <a:rPr lang="en-IN" sz="2000" b="1" dirty="0"/>
              <a:t>Documentation:</a:t>
            </a:r>
            <a:r>
              <a:rPr lang="en-IN" sz="2000" dirty="0"/>
              <a:t> Prepared technical documentation, project report, system workflow, and presentation materials.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6790C53-F8BB-DF4A-8361-919F8B7F6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7FF4D5E0-956F-9742-9135-6CCBA6AE77D9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C6FD2-673C-D83E-C716-1C989A6761E8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15E68AEA-E1B7-F441-CC54-52CAA052A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4150"/>
            <a:ext cx="6951472" cy="590931"/>
          </a:xfrm>
        </p:spPr>
        <p:txBody>
          <a:bodyPr/>
          <a:lstStyle/>
          <a:p>
            <a:r>
              <a:rPr lang="en-US" dirty="0"/>
              <a:t>Process Table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E758566-FAE7-1B41-AABE-FDB3CDFB0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F97EF4A-40C6-024D-A945-B03D1BBD02F7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A5F49-DDB8-A757-9699-BF1EF25BB02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7" name="Picture 2" descr="Knowledge Institute of Technology – Salem Tamilnadu">
            <a:extLst>
              <a:ext uri="{FF2B5EF4-FFF2-40B4-BE49-F238E27FC236}">
                <a16:creationId xmlns:a16="http://schemas.microsoft.com/office/drawing/2014/main" id="{A354C783-D22D-33EA-3878-74D4D229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DDB6BDD-B31C-396B-AD95-8825FC799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491240"/>
              </p:ext>
            </p:extLst>
          </p:nvPr>
        </p:nvGraphicFramePr>
        <p:xfrm>
          <a:off x="534924" y="2012816"/>
          <a:ext cx="11122152" cy="43069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3966">
                  <a:extLst>
                    <a:ext uri="{9D8B030D-6E8A-4147-A177-3AD203B41FA5}">
                      <a16:colId xmlns:a16="http://schemas.microsoft.com/office/drawing/2014/main" val="2621167055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429629913"/>
                    </a:ext>
                  </a:extLst>
                </a:gridCol>
                <a:gridCol w="5964936">
                  <a:extLst>
                    <a:ext uri="{9D8B030D-6E8A-4147-A177-3AD203B41FA5}">
                      <a16:colId xmlns:a16="http://schemas.microsoft.com/office/drawing/2014/main" val="436471904"/>
                    </a:ext>
                  </a:extLst>
                </a:gridCol>
              </a:tblGrid>
              <a:tr h="374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Phase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Engineering Steps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Activities &amp; Outcome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933588"/>
                  </a:ext>
                </a:extLst>
              </a:tr>
              <a:tr h="131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I. Definition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Analysis, 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Defined:</a:t>
                      </a:r>
                      <a:r>
                        <a:rPr lang="en-IN"/>
                        <a:t> Driver monitoring system to detect drowsiness and distraction in real time. </a:t>
                      </a:r>
                      <a:r>
                        <a:rPr lang="en-IN" b="1"/>
                        <a:t>Concept:</a:t>
                      </a:r>
                      <a:r>
                        <a:rPr lang="en-IN"/>
                        <a:t> AI-based Computer Vision system using OpenCV, MediaPipe, and YOLOv8.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675275"/>
                  </a:ext>
                </a:extLst>
              </a:tr>
              <a:tr h="131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II. Development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Design, Module Development,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Developed:</a:t>
                      </a:r>
                      <a:r>
                        <a:rPr lang="en-IN"/>
                        <a:t> Drowsiness, yawning, head position, and mobile phone detection modules. </a:t>
                      </a:r>
                      <a:r>
                        <a:rPr lang="en-IN" b="1"/>
                        <a:t>Integrated:</a:t>
                      </a:r>
                      <a:r>
                        <a:rPr lang="en-IN"/>
                        <a:t> Real-time dashboard, event logging, screenshot capture, and alert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009640"/>
                  </a:ext>
                </a:extLst>
              </a:tr>
              <a:tr h="131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III. Realization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Prototype, Testing,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Built:</a:t>
                      </a:r>
                      <a:r>
                        <a:rPr lang="en-IN" dirty="0"/>
                        <a:t> Functional AI-based driver monitoring prototype using a webcam. </a:t>
                      </a:r>
                      <a:r>
                        <a:rPr lang="en-IN" b="1" dirty="0"/>
                        <a:t>Validated:</a:t>
                      </a:r>
                      <a:r>
                        <a:rPr lang="en-IN" dirty="0"/>
                        <a:t> Real-time detection accuracy, system performance, and driver safety alerts under different scenarios.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436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A5A6BD9C-352C-594C-84C3-B534C6B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45721"/>
            <a:ext cx="10515600" cy="590931"/>
          </a:xfrm>
        </p:spPr>
        <p:txBody>
          <a:bodyPr/>
          <a:lstStyle/>
          <a:p>
            <a:r>
              <a:rPr lang="en-US" dirty="0"/>
              <a:t>List of Activities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692346D0-C19D-754C-B7FB-4EEAD59AF4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4280" y="6137211"/>
            <a:ext cx="4114800" cy="365125"/>
          </a:xfrm>
        </p:spPr>
        <p:txBody>
          <a:bodyPr/>
          <a:lstStyle/>
          <a:p>
            <a:fld id="{11612D8C-0CE2-8F48-B865-A1C7EEB2094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069B-0F58-C58D-35EC-4C6DB3F00376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3" name="Picture 2" descr="Knowledge Institute of Technology – Salem Tamilnadu">
            <a:extLst>
              <a:ext uri="{FF2B5EF4-FFF2-40B4-BE49-F238E27FC236}">
                <a16:creationId xmlns:a16="http://schemas.microsoft.com/office/drawing/2014/main" id="{CE1C2C29-CE5B-056E-24FC-D9D195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D36BFF-0743-C505-AFF7-931347247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768" y="1811959"/>
            <a:ext cx="11172952" cy="4690377"/>
          </a:xfrm>
        </p:spPr>
        <p:txBody>
          <a:bodyPr/>
          <a:lstStyle/>
          <a:p>
            <a:r>
              <a:rPr lang="en-IN" sz="2000" b="1" dirty="0"/>
              <a:t>A. Literature Survey:</a:t>
            </a:r>
            <a:r>
              <a:rPr lang="en-IN" sz="2000" dirty="0"/>
              <a:t> Studied AI-based driver monitoring and computer vision techniques.</a:t>
            </a:r>
          </a:p>
          <a:p>
            <a:r>
              <a:rPr lang="en-IN" sz="2000" b="1" dirty="0"/>
              <a:t>B. Requirement Analysis:</a:t>
            </a:r>
            <a:r>
              <a:rPr lang="en-IN" sz="2000" dirty="0"/>
              <a:t> Identified system requirements, modules, and architecture.</a:t>
            </a:r>
          </a:p>
          <a:p>
            <a:r>
              <a:rPr lang="en-IN" sz="2000" b="1" dirty="0"/>
              <a:t>C. Eye &amp; Face Detection:</a:t>
            </a:r>
            <a:r>
              <a:rPr lang="en-IN" sz="2000" dirty="0"/>
              <a:t> Developed facial landmark detection for drowsiness monitoring.</a:t>
            </a:r>
          </a:p>
          <a:p>
            <a:r>
              <a:rPr lang="en-IN" sz="2000" b="1" dirty="0"/>
              <a:t>D. Yawning &amp; Head Detection:</a:t>
            </a:r>
            <a:r>
              <a:rPr lang="en-IN" sz="2000" dirty="0"/>
              <a:t> Implemented mouth and head movement analysis for fatigue detection.</a:t>
            </a:r>
          </a:p>
          <a:p>
            <a:r>
              <a:rPr lang="en-IN" sz="2000" b="1" dirty="0"/>
              <a:t>E. Mobile Phone Detection:</a:t>
            </a:r>
            <a:r>
              <a:rPr lang="en-IN" sz="2000" dirty="0"/>
              <a:t> Integrated YOLOv8 for real-time phone usage detection.</a:t>
            </a:r>
          </a:p>
          <a:p>
            <a:r>
              <a:rPr lang="en-IN" sz="2000" b="1" dirty="0"/>
              <a:t>F. System Integration:</a:t>
            </a:r>
            <a:r>
              <a:rPr lang="en-IN" sz="2000" dirty="0"/>
              <a:t> Combined OpenCV, </a:t>
            </a:r>
            <a:r>
              <a:rPr lang="en-IN" sz="2000" dirty="0" err="1"/>
              <a:t>MediaPipe</a:t>
            </a:r>
            <a:r>
              <a:rPr lang="en-IN" sz="2000" dirty="0"/>
              <a:t>, YOLOv8, dashboard, logging, and alerts.</a:t>
            </a:r>
          </a:p>
          <a:p>
            <a:r>
              <a:rPr lang="en-IN" sz="2000" b="1" dirty="0"/>
              <a:t>G. Testing &amp; Validation:</a:t>
            </a:r>
            <a:r>
              <a:rPr lang="en-IN" sz="2000" dirty="0"/>
              <a:t> Tested detection accuracy, real-time performance, and system reliability.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8257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>
            <a:extLst>
              <a:ext uri="{FF2B5EF4-FFF2-40B4-BE49-F238E27FC236}">
                <a16:creationId xmlns:a16="http://schemas.microsoft.com/office/drawing/2014/main" id="{3AC14BE6-0C46-714B-B7A3-48A9E49B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123116"/>
            <a:ext cx="6701973" cy="622569"/>
          </a:xfrm>
        </p:spPr>
        <p:txBody>
          <a:bodyPr/>
          <a:lstStyle/>
          <a:p>
            <a:r>
              <a:rPr lang="en-US" dirty="0"/>
              <a:t>Activity Duration Table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774AD43-9463-CEF5-FDB4-742E929F8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07903"/>
              </p:ext>
            </p:extLst>
          </p:nvPr>
        </p:nvGraphicFramePr>
        <p:xfrm>
          <a:off x="705822" y="1923092"/>
          <a:ext cx="9352577" cy="40916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1229741313"/>
                    </a:ext>
                  </a:extLst>
                </a:gridCol>
                <a:gridCol w="5292743">
                  <a:extLst>
                    <a:ext uri="{9D8B030D-6E8A-4147-A177-3AD203B41FA5}">
                      <a16:colId xmlns:a16="http://schemas.microsoft.com/office/drawing/2014/main" val="1239087719"/>
                    </a:ext>
                  </a:extLst>
                </a:gridCol>
                <a:gridCol w="3281634">
                  <a:extLst>
                    <a:ext uri="{9D8B030D-6E8A-4147-A177-3AD203B41FA5}">
                      <a16:colId xmlns:a16="http://schemas.microsoft.com/office/drawing/2014/main" val="4199366196"/>
                    </a:ext>
                  </a:extLst>
                </a:gridCol>
              </a:tblGrid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Activity Description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Duration (Hours)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5223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619731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574819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Embodiment &amp; Detail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03924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Software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8532157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141785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19158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&amp;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2038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Project Duration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250 Hours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58041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2435FF2-28C8-2D2D-BDEB-0C5DCD1A98EC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26419DA3-9A42-55A5-4228-4E21C30A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73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185F3C10-40FA-5845-8029-D5490ECDA8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B7CF859-D7B2-C75E-7BF1-EBC4C51A9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91702"/>
              </p:ext>
            </p:extLst>
          </p:nvPr>
        </p:nvGraphicFramePr>
        <p:xfrm>
          <a:off x="647950" y="2075962"/>
          <a:ext cx="7906770" cy="400987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82618">
                  <a:extLst>
                    <a:ext uri="{9D8B030D-6E8A-4147-A177-3AD203B41FA5}">
                      <a16:colId xmlns:a16="http://schemas.microsoft.com/office/drawing/2014/main" val="2880506019"/>
                    </a:ext>
                  </a:extLst>
                </a:gridCol>
                <a:gridCol w="3662076">
                  <a:extLst>
                    <a:ext uri="{9D8B030D-6E8A-4147-A177-3AD203B41FA5}">
                      <a16:colId xmlns:a16="http://schemas.microsoft.com/office/drawing/2014/main" val="1750860139"/>
                    </a:ext>
                  </a:extLst>
                </a:gridCol>
                <a:gridCol w="3662076">
                  <a:extLst>
                    <a:ext uri="{9D8B030D-6E8A-4147-A177-3AD203B41FA5}">
                      <a16:colId xmlns:a16="http://schemas.microsoft.com/office/drawing/2014/main" val="2929902668"/>
                    </a:ext>
                  </a:extLst>
                </a:gridCol>
              </a:tblGrid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Predecessor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347262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258472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985896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Embodiment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430523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606828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Software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238758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411533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20788"/>
                  </a:ext>
                </a:extLst>
              </a:tr>
              <a:tr h="719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&amp;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587456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450BACB-BAD2-B811-AEB3-0D7478CF0CFD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245FC4DD-935D-244C-F1FD-8A9F36222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7F1A5EB-5483-8BBB-1ED9-5B087FDD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229152"/>
            <a:ext cx="6794571" cy="574263"/>
          </a:xfrm>
        </p:spPr>
        <p:txBody>
          <a:bodyPr/>
          <a:lstStyle/>
          <a:p>
            <a:r>
              <a:rPr lang="en-IN" dirty="0"/>
              <a:t>Activity Precedence Table</a:t>
            </a:r>
          </a:p>
        </p:txBody>
      </p:sp>
    </p:spTree>
    <p:extLst>
      <p:ext uri="{BB962C8B-B14F-4D97-AF65-F5344CB8AC3E}">
        <p14:creationId xmlns:p14="http://schemas.microsoft.com/office/powerpoint/2010/main" val="29211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4204B13-12CE-5849-82EE-2A784C3AC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3A9EFF2A-3D5F-B622-E440-9E0445FE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4150"/>
            <a:ext cx="6951472" cy="590931"/>
          </a:xfrm>
        </p:spPr>
        <p:txBody>
          <a:bodyPr/>
          <a:lstStyle/>
          <a:p>
            <a:r>
              <a:rPr lang="en-IN" dirty="0"/>
              <a:t>Glossary: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B0BD1B-638F-3CA9-D944-D5AA0B38D91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0" name="Picture 2" descr="Knowledge Institute of Technology – Salem Tamilnadu">
            <a:extLst>
              <a:ext uri="{FF2B5EF4-FFF2-40B4-BE49-F238E27FC236}">
                <a16:creationId xmlns:a16="http://schemas.microsoft.com/office/drawing/2014/main" id="{3843E347-A6B6-62FF-37CF-F04424D6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95DA92-F948-A6F7-CB8A-8C0CCFDC5A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5548" y="1872376"/>
            <a:ext cx="10963532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AI (Artificial Intelligence):</a:t>
            </a:r>
            <a:r>
              <a:rPr lang="en-IN" sz="2000" dirty="0"/>
              <a:t> Enables intelligent analysis of driver </a:t>
            </a:r>
            <a:r>
              <a:rPr lang="en-IN" sz="2000" dirty="0" err="1"/>
              <a:t>behavior</a:t>
            </a:r>
            <a:r>
              <a:rPr lang="en-IN" sz="2000" dirty="0"/>
              <a:t>. </a:t>
            </a:r>
          </a:p>
          <a:p>
            <a:r>
              <a:rPr lang="en-IN" sz="2000" b="1" dirty="0"/>
              <a:t>Computer Vision:</a:t>
            </a:r>
            <a:r>
              <a:rPr lang="en-IN" sz="2000" dirty="0"/>
              <a:t> Technology used to </a:t>
            </a:r>
            <a:r>
              <a:rPr lang="en-IN" sz="2000" dirty="0" err="1"/>
              <a:t>analyze</a:t>
            </a:r>
            <a:r>
              <a:rPr lang="en-IN" sz="2000" dirty="0"/>
              <a:t> images and videos in real time.</a:t>
            </a:r>
          </a:p>
          <a:p>
            <a:r>
              <a:rPr lang="en-IN" sz="2000" dirty="0"/>
              <a:t> </a:t>
            </a:r>
            <a:r>
              <a:rPr lang="en-IN" sz="2000" b="1" dirty="0"/>
              <a:t>OpenCV:</a:t>
            </a:r>
            <a:r>
              <a:rPr lang="en-IN" sz="2000" dirty="0"/>
              <a:t> Open-source library for image processing and computer vision. </a:t>
            </a:r>
          </a:p>
          <a:p>
            <a:r>
              <a:rPr lang="en-IN" sz="2000" b="1" dirty="0" err="1"/>
              <a:t>MediaPipe</a:t>
            </a:r>
            <a:r>
              <a:rPr lang="en-IN" sz="2000" b="1" dirty="0"/>
              <a:t>:</a:t>
            </a:r>
            <a:r>
              <a:rPr lang="en-IN" sz="2000" dirty="0"/>
              <a:t> Framework used for face landmark detection and tracking.</a:t>
            </a:r>
          </a:p>
          <a:p>
            <a:r>
              <a:rPr lang="en-IN" sz="2000" dirty="0"/>
              <a:t> </a:t>
            </a:r>
            <a:r>
              <a:rPr lang="en-IN" sz="2000" b="1" dirty="0"/>
              <a:t>YOLOv8:</a:t>
            </a:r>
            <a:r>
              <a:rPr lang="en-IN" sz="2000" dirty="0"/>
              <a:t> Deep learning model used for real-time mobile phone detection. </a:t>
            </a:r>
          </a:p>
          <a:p>
            <a:r>
              <a:rPr lang="en-IN" sz="2000" b="1" dirty="0"/>
              <a:t>EAR (Eye Aspect Ratio):</a:t>
            </a:r>
            <a:r>
              <a:rPr lang="en-IN" sz="2000" dirty="0"/>
              <a:t> Measures eye closure to detect driver drowsiness.</a:t>
            </a:r>
          </a:p>
          <a:p>
            <a:r>
              <a:rPr lang="en-IN" sz="2000" dirty="0"/>
              <a:t> </a:t>
            </a:r>
            <a:r>
              <a:rPr lang="en-IN" sz="2000" b="1" dirty="0"/>
              <a:t>MAR (Mouth Aspect Ratio):</a:t>
            </a:r>
            <a:r>
              <a:rPr lang="en-IN" sz="2000" dirty="0"/>
              <a:t> Measures mouth opening to detect yawning. </a:t>
            </a:r>
          </a:p>
          <a:p>
            <a:r>
              <a:rPr lang="en-IN" sz="2000" b="1" dirty="0"/>
              <a:t>Driver Monitoring System (DMS):</a:t>
            </a:r>
            <a:r>
              <a:rPr lang="en-IN" sz="2000" dirty="0"/>
              <a:t> Monitors driver alertness and distraction to improve road safety</a:t>
            </a:r>
          </a:p>
        </p:txBody>
      </p:sp>
    </p:spTree>
    <p:extLst>
      <p:ext uri="{BB962C8B-B14F-4D97-AF65-F5344CB8AC3E}">
        <p14:creationId xmlns:p14="http://schemas.microsoft.com/office/powerpoint/2010/main" val="27828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9EA7-98F6-6B2B-D294-AF99CB49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38533669-9E2E-BCA1-4AC3-2F61F885F7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9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9EAD4E-4CBA-3CFB-BDAF-B4DEAA604ED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DC90A71-DE45-773A-657E-79A894C65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A1CCCC5-39BE-33E1-78FE-26115766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212484"/>
            <a:ext cx="7765543" cy="590931"/>
          </a:xfrm>
        </p:spPr>
        <p:txBody>
          <a:bodyPr/>
          <a:lstStyle/>
          <a:p>
            <a:r>
              <a:rPr lang="en-IN" dirty="0"/>
              <a:t>Core</a:t>
            </a:r>
            <a:r>
              <a:rPr lang="en-IN" b="1" dirty="0"/>
              <a:t> </a:t>
            </a:r>
            <a:r>
              <a:rPr lang="en-IN" dirty="0"/>
              <a:t>Technologies</a:t>
            </a:r>
            <a:r>
              <a:rPr lang="en-IN" b="1" dirty="0"/>
              <a:t> </a:t>
            </a:r>
            <a:r>
              <a:rPr lang="en-IN" dirty="0"/>
              <a:t>&amp; Principles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CB7B48-4B54-1AA9-C2C4-414E23B311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4367" y="1700051"/>
            <a:ext cx="11909553" cy="4984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Computer Vision:</a:t>
            </a:r>
            <a:r>
              <a:rPr lang="en-IN" sz="2400" dirty="0"/>
              <a:t> </a:t>
            </a:r>
            <a:r>
              <a:rPr lang="en-IN" sz="2400" dirty="0" err="1"/>
              <a:t>Analyzes</a:t>
            </a:r>
            <a:r>
              <a:rPr lang="en-IN" sz="2400" dirty="0"/>
              <a:t> real-time video frames to monitor driver </a:t>
            </a:r>
            <a:r>
              <a:rPr lang="en-IN" sz="2400" dirty="0" err="1"/>
              <a:t>behavior</a:t>
            </a:r>
            <a:r>
              <a:rPr lang="en-IN" sz="2400" dirty="0"/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Artificial Intelligence (AI):</a:t>
            </a:r>
            <a:r>
              <a:rPr lang="en-IN" sz="2400" dirty="0"/>
              <a:t> Detects drowsiness and distraction using intelligent algorithms.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OpenCV:</a:t>
            </a:r>
            <a:r>
              <a:rPr lang="en-IN" sz="2400" dirty="0"/>
              <a:t> Performs image processing and real-time video analysis.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 err="1"/>
              <a:t>MediaPipe</a:t>
            </a:r>
            <a:r>
              <a:rPr lang="en-IN" sz="2400" b="1" dirty="0"/>
              <a:t> Face Mesh:</a:t>
            </a:r>
            <a:r>
              <a:rPr lang="en-IN" sz="2400" dirty="0"/>
              <a:t> Detects facial landmarks for eye, mouth, and head position analysis.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YOLOv8:</a:t>
            </a:r>
            <a:r>
              <a:rPr lang="en-IN" sz="2400" dirty="0"/>
              <a:t> Detects mobile phone usage using deep learning-based object detection.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Eye Aspect Ratio (EAR):</a:t>
            </a:r>
            <a:r>
              <a:rPr lang="en-IN" sz="2400" dirty="0"/>
              <a:t> Identifies drowsiness by measuring eye closure.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Mouth Aspect Ratio (MAR):</a:t>
            </a:r>
            <a:r>
              <a:rPr lang="en-IN" sz="2400" dirty="0"/>
              <a:t> Detects yawning by </a:t>
            </a:r>
            <a:r>
              <a:rPr lang="en-IN" sz="2400" dirty="0" err="1"/>
              <a:t>analyzing</a:t>
            </a:r>
            <a:r>
              <a:rPr lang="en-IN" sz="2400" dirty="0"/>
              <a:t> mouth opening.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276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7BB-7CFF-8D68-3D96-552C7AF6A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010332AB-4FEA-B0A0-1609-E0A59408925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10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8CD9C6-AE63-3585-1672-1EF8752C48EE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A6C2931-DC1E-6305-AF2A-4E95B823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E18C957-F7D2-2F8E-B1E8-92E1D87B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088831"/>
            <a:ext cx="6794571" cy="590931"/>
          </a:xfrm>
        </p:spPr>
        <p:txBody>
          <a:bodyPr/>
          <a:lstStyle/>
          <a:p>
            <a:r>
              <a:rPr lang="en-IN" dirty="0"/>
              <a:t>Concept Rules &amp; Laws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B01320-DC36-76C7-1B69-C440727F5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4458" y="1783512"/>
            <a:ext cx="10943083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Computer Vision Principle:</a:t>
            </a:r>
            <a:r>
              <a:rPr lang="en-IN" sz="2400" dirty="0"/>
              <a:t> Processes real-time video frames to monitor driver </a:t>
            </a:r>
            <a:r>
              <a:rPr lang="en-IN" sz="2400" dirty="0" err="1"/>
              <a:t>behavior</a:t>
            </a:r>
            <a:r>
              <a:rPr lang="en-IN" sz="2400" dirty="0"/>
              <a:t>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Facial Landmark Detection:</a:t>
            </a:r>
            <a:r>
              <a:rPr lang="en-IN" sz="2400" dirty="0"/>
              <a:t> Uses facial landmarks to </a:t>
            </a:r>
            <a:r>
              <a:rPr lang="en-IN" sz="2400" dirty="0" err="1"/>
              <a:t>analyze</a:t>
            </a:r>
            <a:r>
              <a:rPr lang="en-IN" sz="2400" dirty="0"/>
              <a:t> eye, mouth, and head movements.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Deep Learning Principle:</a:t>
            </a:r>
            <a:r>
              <a:rPr lang="en-IN" sz="2400" dirty="0"/>
              <a:t> Applies the YOLOv8 model for accurate mobile phone detection.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Real-Time Monitoring:</a:t>
            </a:r>
            <a:r>
              <a:rPr lang="en-IN" sz="2400" dirty="0"/>
              <a:t> Continuously detects drowsiness and distraction and provides instant alerts.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214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29C4-38BF-184D-7672-1FD20428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2C2B464-E3B2-8604-4847-B8653FF8C2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11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23A500-B993-985A-34EC-928D6E1D4532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93B5C55-C4F9-BF6A-FB21-82CA108C3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19A17C-EBB5-ECD6-B2A3-3BDDB7E4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56" y="1027113"/>
            <a:ext cx="6794571" cy="535531"/>
          </a:xfrm>
        </p:spPr>
        <p:txBody>
          <a:bodyPr/>
          <a:lstStyle/>
          <a:p>
            <a:r>
              <a:rPr lang="en-IN" sz="3200" dirty="0"/>
              <a:t>System Components &amp; Technologies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30A94E-AFDC-902C-E047-8DD9DAFF2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072348"/>
              </p:ext>
            </p:extLst>
          </p:nvPr>
        </p:nvGraphicFramePr>
        <p:xfrm>
          <a:off x="566738" y="1917559"/>
          <a:ext cx="8897302" cy="392041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14794">
                  <a:extLst>
                    <a:ext uri="{9D8B030D-6E8A-4147-A177-3AD203B41FA5}">
                      <a16:colId xmlns:a16="http://schemas.microsoft.com/office/drawing/2014/main" val="103030578"/>
                    </a:ext>
                  </a:extLst>
                </a:gridCol>
                <a:gridCol w="5682508">
                  <a:extLst>
                    <a:ext uri="{9D8B030D-6E8A-4147-A177-3AD203B41FA5}">
                      <a16:colId xmlns:a16="http://schemas.microsoft.com/office/drawing/2014/main" val="832105066"/>
                    </a:ext>
                  </a:extLst>
                </a:gridCol>
              </a:tblGrid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46720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Python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Core programming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206646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OpenCV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processing and video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376501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MediaPipe Face Mesh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Facial landmark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935467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YOLOv8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 phone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052259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NumPy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Mathematical and array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934964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CSV Logger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driver event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820404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Webcam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Captures real-time driver video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177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13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E226-18E3-A918-1889-F64652F8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49277DEC-FD55-B750-99F6-ED4AF3D2B3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12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44474-B6A9-2E80-CFB1-F6A61E5207D1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8AF6717-8050-162E-0152-455468FEF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11A54090-C1CD-E4C7-7C4F-120173108496}"/>
              </a:ext>
            </a:extLst>
          </p:cNvPr>
          <p:cNvSpPr txBox="1">
            <a:spLocks/>
          </p:cNvSpPr>
          <p:nvPr/>
        </p:nvSpPr>
        <p:spPr>
          <a:xfrm>
            <a:off x="566928" y="1325496"/>
            <a:ext cx="2993908" cy="48013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sz="2800" dirty="0"/>
              <a:t>System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F276B4-CE54-9AB9-4109-B13786C2B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917387"/>
            <a:ext cx="9093199" cy="420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26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8611-98CE-DD98-71BF-373DCFBB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DF4BD0B-487E-0EFB-5090-B575D91BDF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13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561CC2-FB8E-0F7F-5BAE-C16EDB634CB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E072C555-A9B9-7CD0-7AB1-B90DD3991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CBCE1D-4E99-C95A-9ABF-F1F85E08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256756"/>
            <a:ext cx="6794571" cy="535531"/>
          </a:xfrm>
        </p:spPr>
        <p:txBody>
          <a:bodyPr/>
          <a:lstStyle/>
          <a:p>
            <a:r>
              <a:rPr lang="en-IN" sz="3200" dirty="0"/>
              <a:t>What-if-Analysis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1E71F1C-1FEE-DE9A-98FC-BF9E0AD5E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888388"/>
              </p:ext>
            </p:extLst>
          </p:nvPr>
        </p:nvGraphicFramePr>
        <p:xfrm>
          <a:off x="514464" y="1967842"/>
          <a:ext cx="8091056" cy="39554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28989">
                  <a:extLst>
                    <a:ext uri="{9D8B030D-6E8A-4147-A177-3AD203B41FA5}">
                      <a16:colId xmlns:a16="http://schemas.microsoft.com/office/drawing/2014/main" val="323170507"/>
                    </a:ext>
                  </a:extLst>
                </a:gridCol>
                <a:gridCol w="4762067">
                  <a:extLst>
                    <a:ext uri="{9D8B030D-6E8A-4147-A177-3AD203B41FA5}">
                      <a16:colId xmlns:a16="http://schemas.microsoft.com/office/drawing/2014/main" val="3966762043"/>
                    </a:ext>
                  </a:extLst>
                </a:gridCol>
              </a:tblGrid>
              <a:tr h="4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Scenario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Expected System Response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994761"/>
                  </a:ext>
                </a:extLst>
              </a:tr>
              <a:tr h="709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Driver Not Detected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</a:t>
                      </a:r>
                      <a:r>
                        <a:rPr lang="en-IN" b="1"/>
                        <a:t>"No Driver Detected"</a:t>
                      </a:r>
                      <a:r>
                        <a:rPr lang="en-IN"/>
                        <a:t> and waits until a face is detected.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891701"/>
                  </a:ext>
                </a:extLst>
              </a:tr>
              <a:tr h="709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Driver Drowsiness Detected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a </a:t>
                      </a:r>
                      <a:r>
                        <a:rPr lang="en-IN" b="1"/>
                        <a:t>DROWSY</a:t>
                      </a:r>
                      <a:r>
                        <a:rPr lang="en-IN"/>
                        <a:t> alert, captures a screenshot, and logs the event.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509458"/>
                  </a:ext>
                </a:extLst>
              </a:tr>
              <a:tr h="709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Yawning Detected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a </a:t>
                      </a:r>
                      <a:r>
                        <a:rPr lang="en-IN" b="1"/>
                        <a:t>YAWNING</a:t>
                      </a:r>
                      <a:r>
                        <a:rPr lang="en-IN"/>
                        <a:t> warning and records the event in the log.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482727"/>
                  </a:ext>
                </a:extLst>
              </a:tr>
              <a:tr h="709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Mobile Phone Usage Detected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a </a:t>
                      </a:r>
                      <a:r>
                        <a:rPr lang="en-IN" b="1"/>
                        <a:t>DISTRACTED</a:t>
                      </a:r>
                      <a:r>
                        <a:rPr lang="en-IN"/>
                        <a:t> alert and stores the event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324804"/>
                  </a:ext>
                </a:extLst>
              </a:tr>
              <a:tr h="709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Driver Looking Away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Detects head distraction, updates the dashboard, and generates a warning.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71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23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FE9B-69E1-4412-FF35-31E959E9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43BAC711-C6DF-11B7-50F5-4B990156C5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14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5D4DAE-8546-EE14-0CA7-063A83072BD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C6E89FC-C84A-78AE-8431-8FF6AABDD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2BD22C-CB15-9270-C611-98DDD9DC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185781"/>
            <a:ext cx="6794571" cy="535531"/>
          </a:xfrm>
        </p:spPr>
        <p:txBody>
          <a:bodyPr/>
          <a:lstStyle/>
          <a:p>
            <a:r>
              <a:rPr lang="en-IN" sz="3200" dirty="0"/>
              <a:t>Conclusion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B97FB3-8490-1F45-E4D1-74AF76C62C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0977" y="1890912"/>
            <a:ext cx="10510046" cy="3251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IN" sz="2000" dirty="0"/>
              <a:t>The </a:t>
            </a:r>
            <a:r>
              <a:rPr lang="en-IN" sz="2000" b="1" dirty="0"/>
              <a:t>Driver Drowsiness and Distraction Detection System Using Computer Vision</a:t>
            </a:r>
            <a:r>
              <a:rPr lang="en-IN" sz="2000" dirty="0"/>
              <a:t> successfully monitors driver </a:t>
            </a:r>
            <a:r>
              <a:rPr lang="en-IN" sz="2000" dirty="0" err="1"/>
              <a:t>behavior</a:t>
            </a:r>
            <a:r>
              <a:rPr lang="en-IN" sz="2000" dirty="0"/>
              <a:t> in real time by detecting </a:t>
            </a:r>
            <a:r>
              <a:rPr lang="en-IN" sz="2000" b="1" dirty="0"/>
              <a:t>drowsiness, yawning, head movement, and mobile phone usage</a:t>
            </a:r>
            <a:r>
              <a:rPr lang="en-IN" sz="2000" dirty="0"/>
              <a:t>. Developed using </a:t>
            </a:r>
            <a:r>
              <a:rPr lang="en-IN" sz="2000" b="1" dirty="0"/>
              <a:t>Python, OpenCV, </a:t>
            </a:r>
            <a:r>
              <a:rPr lang="en-IN" sz="2000" b="1" dirty="0" err="1"/>
              <a:t>MediaPipe</a:t>
            </a:r>
            <a:r>
              <a:rPr lang="en-IN" sz="2000" b="1" dirty="0"/>
              <a:t> Face Mesh, and YOLOv8</a:t>
            </a:r>
            <a:r>
              <a:rPr lang="en-IN" sz="2000" dirty="0"/>
              <a:t>, the system provides timely alerts, event logging, and screenshot capture to enhance driver awareness and safety. This project demonstrates the practical application of </a:t>
            </a:r>
            <a:r>
              <a:rPr lang="en-IN" sz="2000" b="1" dirty="0"/>
              <a:t>Artificial Intelligence and Computer Vision</a:t>
            </a:r>
            <a:r>
              <a:rPr lang="en-IN" sz="2000" dirty="0"/>
              <a:t> in reducing fatigue- and distraction-related road accidents while providing a scalable foundation for future </a:t>
            </a:r>
            <a:r>
              <a:rPr lang="en-IN" sz="2000" b="1" dirty="0"/>
              <a:t>Advanced Driver Assistance Systems (ADAS)</a:t>
            </a:r>
            <a:r>
              <a:rPr lang="en-IN" sz="2000" dirty="0"/>
              <a:t> and intelligent transportation solutions.</a:t>
            </a:r>
          </a:p>
        </p:txBody>
      </p:sp>
    </p:spTree>
    <p:extLst>
      <p:ext uri="{BB962C8B-B14F-4D97-AF65-F5344CB8AC3E}">
        <p14:creationId xmlns:p14="http://schemas.microsoft.com/office/powerpoint/2010/main" val="61963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1116</Words>
  <Application>Microsoft Office PowerPoint</Application>
  <PresentationFormat>Widescreen</PresentationFormat>
  <Paragraphs>170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Regular</vt:lpstr>
      <vt:lpstr>Georgia</vt:lpstr>
      <vt:lpstr>System Font Regular</vt:lpstr>
      <vt:lpstr>Times New Roman</vt:lpstr>
      <vt:lpstr>Office Theme</vt:lpstr>
      <vt:lpstr>Driver Drowsiness and Distraction Detection System using computer vision </vt:lpstr>
      <vt:lpstr>Driver Drowsiness and Distraction Detection System Using Computer Vision</vt:lpstr>
      <vt:lpstr>Engineering Design Process</vt:lpstr>
      <vt:lpstr>Process Table</vt:lpstr>
      <vt:lpstr>List of Activities</vt:lpstr>
      <vt:lpstr>Activity Duration Table</vt:lpstr>
      <vt:lpstr>Activity Precedence Table</vt:lpstr>
      <vt:lpstr>Glossary:</vt:lpstr>
      <vt:lpstr>Core Technologies &amp; Principles </vt:lpstr>
      <vt:lpstr>Concept Rules &amp; Laws</vt:lpstr>
      <vt:lpstr>System Components &amp; Technologies</vt:lpstr>
      <vt:lpstr>PowerPoint Presentation</vt:lpstr>
      <vt:lpstr>What-if-Analysis</vt:lpstr>
      <vt:lpstr>Conclusion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MALLIKA V</cp:lastModifiedBy>
  <cp:revision>83</cp:revision>
  <dcterms:created xsi:type="dcterms:W3CDTF">2019-04-04T19:20:28Z</dcterms:created>
  <dcterms:modified xsi:type="dcterms:W3CDTF">2026-07-24T07:16:00Z</dcterms:modified>
  <cp:category/>
</cp:coreProperties>
</file>